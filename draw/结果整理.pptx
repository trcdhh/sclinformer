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173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E7DB2-97BC-43B0-9EF2-60345C77095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5EAE1-AE6F-4BE1-8068-3AE6F61E46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803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944B7D2-65EF-660E-A357-FBD2DAB317E3}"/>
              </a:ext>
            </a:extLst>
          </p:cNvPr>
          <p:cNvSpPr txBox="1"/>
          <p:nvPr/>
        </p:nvSpPr>
        <p:spPr>
          <a:xfrm>
            <a:off x="840259" y="617838"/>
            <a:ext cx="252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Fig1</a:t>
            </a:r>
            <a:r>
              <a:rPr lang="zh-CN" altLang="en-US" dirty="0"/>
              <a:t>： 流程图 （草图）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B7F9FAD-580B-3DBB-F1D9-67DBD5291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59" y="987170"/>
            <a:ext cx="7805350" cy="422680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C92D770-3E52-A83A-424C-7EE12B373332}"/>
              </a:ext>
            </a:extLst>
          </p:cNvPr>
          <p:cNvSpPr/>
          <p:nvPr/>
        </p:nvSpPr>
        <p:spPr>
          <a:xfrm>
            <a:off x="6427487" y="2845837"/>
            <a:ext cx="438665" cy="2903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155A10-5AAC-9ABC-8996-3A703E5E3A8D}"/>
              </a:ext>
            </a:extLst>
          </p:cNvPr>
          <p:cNvSpPr txBox="1"/>
          <p:nvPr/>
        </p:nvSpPr>
        <p:spPr>
          <a:xfrm>
            <a:off x="6341852" y="2575144"/>
            <a:ext cx="532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batch</a:t>
            </a:r>
            <a:endParaRPr lang="zh-CN" altLang="en-US" sz="1200" dirty="0"/>
          </a:p>
        </p:txBody>
      </p:sp>
      <p:sp>
        <p:nvSpPr>
          <p:cNvPr id="9" name="加号 8">
            <a:extLst>
              <a:ext uri="{FF2B5EF4-FFF2-40B4-BE49-F238E27FC236}">
                <a16:creationId xmlns:a16="http://schemas.microsoft.com/office/drawing/2014/main" id="{105AB51B-524F-5905-BDE4-CD7B4252AB4F}"/>
              </a:ext>
            </a:extLst>
          </p:cNvPr>
          <p:cNvSpPr/>
          <p:nvPr/>
        </p:nvSpPr>
        <p:spPr>
          <a:xfrm>
            <a:off x="6557234" y="3268414"/>
            <a:ext cx="179173" cy="16058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32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2C1BA-82AC-CA15-1400-0E86FFCD6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3ED3FBA-64D6-5F00-F8BC-257FADCDB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431" y="301184"/>
            <a:ext cx="4521337" cy="625563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F6F13E3-7584-FD80-2927-1D02CD728E9D}"/>
              </a:ext>
            </a:extLst>
          </p:cNvPr>
          <p:cNvSpPr txBox="1"/>
          <p:nvPr/>
        </p:nvSpPr>
        <p:spPr>
          <a:xfrm>
            <a:off x="716692" y="525163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Fig2</a:t>
            </a:r>
            <a:r>
              <a:rPr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84040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DF4E3-FA54-B06A-F171-01D67F681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40EFF16-FD46-FA76-60A9-F5725482C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108" y="2910015"/>
            <a:ext cx="6087595" cy="284439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4535081-F91C-F458-D1EB-FFFBE8533FEE}"/>
              </a:ext>
            </a:extLst>
          </p:cNvPr>
          <p:cNvSpPr txBox="1"/>
          <p:nvPr/>
        </p:nvSpPr>
        <p:spPr>
          <a:xfrm>
            <a:off x="556054" y="23477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Fig3</a:t>
            </a:r>
            <a:r>
              <a:rPr lang="zh-CN" altLang="en-US" dirty="0"/>
              <a:t>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B05D71-F6C0-FC79-90E2-403471861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35" y="1275494"/>
            <a:ext cx="5361084" cy="24624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2FBE8FD-79BC-86A9-0746-CAF3B2588F4D}"/>
              </a:ext>
            </a:extLst>
          </p:cNvPr>
          <p:cNvSpPr txBox="1"/>
          <p:nvPr/>
        </p:nvSpPr>
        <p:spPr>
          <a:xfrm>
            <a:off x="738435" y="906162"/>
            <a:ext cx="7118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：根据模型权重</a:t>
            </a:r>
            <a:r>
              <a:rPr lang="en-US" altLang="zh-CN" dirty="0"/>
              <a:t>E</a:t>
            </a:r>
            <a:r>
              <a:rPr lang="zh-CN" altLang="en-US" dirty="0"/>
              <a:t>（</a:t>
            </a:r>
            <a:r>
              <a:rPr lang="en-US" altLang="zh-CN" dirty="0" err="1"/>
              <a:t>n_head</a:t>
            </a:r>
            <a:r>
              <a:rPr lang="en-US" altLang="zh-CN" dirty="0"/>
              <a:t>, basis, </a:t>
            </a:r>
            <a:r>
              <a:rPr lang="en-US" altLang="zh-CN" dirty="0" err="1"/>
              <a:t>n_gene</a:t>
            </a:r>
            <a:r>
              <a:rPr lang="zh-CN" altLang="en-US" dirty="0"/>
              <a:t>）取最大</a:t>
            </a:r>
            <a:r>
              <a:rPr lang="en-US" altLang="zh-CN" dirty="0"/>
              <a:t>gene</a:t>
            </a:r>
            <a:r>
              <a:rPr lang="zh-CN" altLang="en-US" dirty="0"/>
              <a:t>，做基因富集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DDCA0A-02EA-2FE3-F4FD-F3523DC2BBD4}"/>
              </a:ext>
            </a:extLst>
          </p:cNvPr>
          <p:cNvSpPr txBox="1"/>
          <p:nvPr/>
        </p:nvSpPr>
        <p:spPr>
          <a:xfrm>
            <a:off x="2567044" y="4052332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immune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E2423E-D265-BBF1-6E28-92F42867215B}"/>
              </a:ext>
            </a:extLst>
          </p:cNvPr>
          <p:cNvSpPr txBox="1"/>
          <p:nvPr/>
        </p:nvSpPr>
        <p:spPr>
          <a:xfrm>
            <a:off x="8802128" y="593467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bmmc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3551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843D4-4D31-5275-3D9D-CD289928C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C980234-46EE-B3FB-BC08-1D6CB12C3EBA}"/>
              </a:ext>
            </a:extLst>
          </p:cNvPr>
          <p:cNvSpPr txBox="1"/>
          <p:nvPr/>
        </p:nvSpPr>
        <p:spPr>
          <a:xfrm>
            <a:off x="556054" y="23477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Fig3</a:t>
            </a:r>
            <a:r>
              <a:rPr lang="zh-CN" altLang="en-US" dirty="0"/>
              <a:t>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CEB4E0-732E-3FC2-68BC-1C16BF791338}"/>
              </a:ext>
            </a:extLst>
          </p:cNvPr>
          <p:cNvSpPr txBox="1"/>
          <p:nvPr/>
        </p:nvSpPr>
        <p:spPr>
          <a:xfrm>
            <a:off x="738435" y="906162"/>
            <a:ext cx="413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：提取基因</a:t>
            </a:r>
            <a:r>
              <a:rPr lang="en-US" altLang="zh-CN" dirty="0" err="1"/>
              <a:t>embeding</a:t>
            </a:r>
            <a:r>
              <a:rPr lang="zh-CN" altLang="en-US" dirty="0"/>
              <a:t>，输入</a:t>
            </a:r>
            <a:r>
              <a:rPr lang="en-US" altLang="zh-CN" dirty="0" err="1"/>
              <a:t>knn</a:t>
            </a:r>
            <a:r>
              <a:rPr lang="zh-CN" altLang="en-US" dirty="0"/>
              <a:t>，画图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688AF1-54BA-5FD1-729F-CBAAC91EE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35" y="1493328"/>
            <a:ext cx="4091488" cy="38713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A21F466-3E61-9391-76C6-840341E55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995" y="1440136"/>
            <a:ext cx="4142861" cy="392453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BCC8399-8523-4163-CE22-24A857193AA0}"/>
              </a:ext>
            </a:extLst>
          </p:cNvPr>
          <p:cNvSpPr txBox="1"/>
          <p:nvPr/>
        </p:nvSpPr>
        <p:spPr>
          <a:xfrm>
            <a:off x="3342503" y="5715000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immune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46B6C5-9310-61B1-8EE6-4D4ED9BB53E5}"/>
              </a:ext>
            </a:extLst>
          </p:cNvPr>
          <p:cNvSpPr txBox="1"/>
          <p:nvPr/>
        </p:nvSpPr>
        <p:spPr>
          <a:xfrm>
            <a:off x="8141044" y="5638799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lungatlas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355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A9F81-E78C-FC81-10FF-5F3150BEE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873353D-1538-3C7D-F0CF-02FF548165A2}"/>
              </a:ext>
            </a:extLst>
          </p:cNvPr>
          <p:cNvSpPr txBox="1"/>
          <p:nvPr/>
        </p:nvSpPr>
        <p:spPr>
          <a:xfrm>
            <a:off x="556054" y="23477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Fig3</a:t>
            </a:r>
            <a:r>
              <a:rPr lang="zh-CN" altLang="en-US" dirty="0"/>
              <a:t>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D6AB45-EBB0-1469-5E6C-4260C99744AD}"/>
              </a:ext>
            </a:extLst>
          </p:cNvPr>
          <p:cNvSpPr txBox="1"/>
          <p:nvPr/>
        </p:nvSpPr>
        <p:spPr>
          <a:xfrm>
            <a:off x="738435" y="906162"/>
            <a:ext cx="413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：每个数据集</a:t>
            </a:r>
            <a:r>
              <a:rPr lang="en-US" altLang="zh-CN" dirty="0"/>
              <a:t>top gene</a:t>
            </a:r>
            <a:r>
              <a:rPr lang="zh-CN" altLang="en-US" dirty="0"/>
              <a:t>富集主题热力图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C5AB68-48C2-4D03-5939-2763E4DC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22" y="1827740"/>
            <a:ext cx="5552982" cy="458541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38607DD-93B5-2BAC-69A0-9046C1912CFA}"/>
              </a:ext>
            </a:extLst>
          </p:cNvPr>
          <p:cNvSpPr txBox="1"/>
          <p:nvPr/>
        </p:nvSpPr>
        <p:spPr>
          <a:xfrm>
            <a:off x="679622" y="1257772"/>
            <a:ext cx="6094970" cy="464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CN" altLang="en-US" sz="1200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主题来源：</a:t>
            </a:r>
            <a:r>
              <a:rPr lang="en-US" altLang="zh-CN" sz="1200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Gene Ontology </a:t>
            </a:r>
            <a:r>
              <a:rPr lang="zh-CN" altLang="en-US" sz="1200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层级结构 </a:t>
            </a:r>
            <a:r>
              <a:rPr lang="en-US" altLang="zh-CN" sz="1200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zh-CN" sz="1200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MSigDB</a:t>
            </a:r>
            <a:r>
              <a:rPr lang="en-US" altLang="zh-CN" sz="1200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hallmark gene sets + </a:t>
            </a:r>
            <a:r>
              <a:rPr lang="zh-CN" altLang="en-US" sz="1200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免疫</a:t>
            </a:r>
            <a:r>
              <a:rPr lang="en-US" altLang="zh-CN" sz="1200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200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细胞生物学领域经验的人工整合结果</a:t>
            </a:r>
            <a:endParaRPr lang="zh-CN" alt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09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4EBB5-F65E-F342-ABDE-E0F8E704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943D8E6-757C-9FC6-22FB-8D81142BDA4C}"/>
              </a:ext>
            </a:extLst>
          </p:cNvPr>
          <p:cNvSpPr txBox="1"/>
          <p:nvPr/>
        </p:nvSpPr>
        <p:spPr>
          <a:xfrm>
            <a:off x="556054" y="23477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Fig4</a:t>
            </a:r>
            <a:r>
              <a:rPr lang="zh-CN" altLang="en-US" dirty="0"/>
              <a:t>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F399B31-7DB7-ECE4-3147-4545ABC2F84F}"/>
              </a:ext>
            </a:extLst>
          </p:cNvPr>
          <p:cNvSpPr txBox="1"/>
          <p:nvPr/>
        </p:nvSpPr>
        <p:spPr>
          <a:xfrm>
            <a:off x="738435" y="906162"/>
            <a:ext cx="3239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：单基因扰动实验：</a:t>
            </a:r>
            <a:r>
              <a:rPr lang="en-US" altLang="zh-CN" dirty="0" err="1"/>
              <a:t>adamson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9959B0-E0F6-641C-832A-E4C5802CC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63" y="2007764"/>
            <a:ext cx="5173042" cy="256423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0279BDF-68EE-71D3-40C3-7350BDFF7435}"/>
              </a:ext>
            </a:extLst>
          </p:cNvPr>
          <p:cNvSpPr txBox="1"/>
          <p:nvPr/>
        </p:nvSpPr>
        <p:spPr>
          <a:xfrm>
            <a:off x="738435" y="1456963"/>
            <a:ext cx="596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获取近似</a:t>
            </a:r>
            <a:r>
              <a:rPr lang="en-US" altLang="zh-CN" dirty="0"/>
              <a:t>attention</a:t>
            </a:r>
            <a:r>
              <a:rPr lang="zh-CN" altLang="en-US" dirty="0"/>
              <a:t>（</a:t>
            </a:r>
            <a:r>
              <a:rPr lang="en-US" altLang="zh-CN" dirty="0" err="1"/>
              <a:t>n_gene,n_gene</a:t>
            </a:r>
            <a:r>
              <a:rPr lang="zh-CN" altLang="en-US" dirty="0"/>
              <a:t>）、取变化最大的</a:t>
            </a:r>
            <a:r>
              <a:rPr lang="en-US" altLang="zh-CN" dirty="0"/>
              <a:t>gene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3A78AD2-8461-3CE2-24A2-5E96BE748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766" y="125438"/>
            <a:ext cx="4108103" cy="340171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FF2CDDF-22FB-B471-CF6B-E55CC66E9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8567" y="3567691"/>
            <a:ext cx="3874302" cy="316487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085C8F4-228A-CFB9-21BE-EDD716F4F54A}"/>
              </a:ext>
            </a:extLst>
          </p:cNvPr>
          <p:cNvSpPr txBox="1"/>
          <p:nvPr/>
        </p:nvSpPr>
        <p:spPr>
          <a:xfrm>
            <a:off x="5503705" y="1090828"/>
            <a:ext cx="1761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Attention</a:t>
            </a:r>
            <a:r>
              <a:rPr lang="zh-CN" altLang="en-US" dirty="0"/>
              <a:t>绝对值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D03667-831C-64B5-0A2F-893A7E9501BD}"/>
              </a:ext>
            </a:extLst>
          </p:cNvPr>
          <p:cNvSpPr txBox="1"/>
          <p:nvPr/>
        </p:nvSpPr>
        <p:spPr>
          <a:xfrm>
            <a:off x="5690575" y="5080001"/>
            <a:ext cx="1761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Attention</a:t>
            </a:r>
            <a:r>
              <a:rPr lang="zh-CN" altLang="en-US" dirty="0"/>
              <a:t>原始值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672BA3-A779-63E6-39D5-DB12C8F9221E}"/>
              </a:ext>
            </a:extLst>
          </p:cNvPr>
          <p:cNvSpPr txBox="1"/>
          <p:nvPr/>
        </p:nvSpPr>
        <p:spPr>
          <a:xfrm>
            <a:off x="2727762" y="4892693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扰动</a:t>
            </a:r>
            <a:r>
              <a:rPr lang="en-US" altLang="zh-CN" dirty="0"/>
              <a:t>SOCS1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019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3EFC-2440-A34B-CE39-ABFD31924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73ECC1B-E3FA-6DA2-569E-64776E8C69F3}"/>
              </a:ext>
            </a:extLst>
          </p:cNvPr>
          <p:cNvSpPr txBox="1"/>
          <p:nvPr/>
        </p:nvSpPr>
        <p:spPr>
          <a:xfrm>
            <a:off x="556054" y="234779"/>
            <a:ext cx="1145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covid19</a:t>
            </a:r>
            <a:r>
              <a:rPr lang="zh-CN" altLang="en-US" dirty="0"/>
              <a:t>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DB321C-1494-E4EF-84F2-CFDE95419470}"/>
              </a:ext>
            </a:extLst>
          </p:cNvPr>
          <p:cNvSpPr txBox="1"/>
          <p:nvPr/>
        </p:nvSpPr>
        <p:spPr>
          <a:xfrm>
            <a:off x="945292" y="1068859"/>
            <a:ext cx="5514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Covid19</a:t>
            </a:r>
            <a:r>
              <a:rPr lang="zh-CN" altLang="en-US" dirty="0"/>
              <a:t>基因扰动实验 取原始低秩</a:t>
            </a:r>
            <a:r>
              <a:rPr lang="en-US" altLang="zh-CN" dirty="0"/>
              <a:t>attention (</a:t>
            </a:r>
            <a:r>
              <a:rPr lang="en-US" altLang="zh-CN" dirty="0" err="1"/>
              <a:t>n_geme,k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2BAB43-3B5D-C7C5-3194-087F06B9B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72" y="1988482"/>
            <a:ext cx="5469089" cy="32384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CC8590E-D0A9-11F4-9D93-59788716A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47809"/>
            <a:ext cx="5909635" cy="351976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8573AB4-6419-41DA-7994-F6BA596595C5}"/>
              </a:ext>
            </a:extLst>
          </p:cNvPr>
          <p:cNvSpPr txBox="1"/>
          <p:nvPr/>
        </p:nvSpPr>
        <p:spPr>
          <a:xfrm>
            <a:off x="3305432" y="161915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IL6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BE712F-876D-DC70-1D1A-E0E79028084B}"/>
              </a:ext>
            </a:extLst>
          </p:cNvPr>
          <p:cNvSpPr txBox="1"/>
          <p:nvPr/>
        </p:nvSpPr>
        <p:spPr>
          <a:xfrm>
            <a:off x="8927274" y="1199977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IRF7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4153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36748-934B-3908-5527-D3CC52BE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BE515F4-8050-82DF-C0E2-C30F9185F02B}"/>
              </a:ext>
            </a:extLst>
          </p:cNvPr>
          <p:cNvSpPr txBox="1"/>
          <p:nvPr/>
        </p:nvSpPr>
        <p:spPr>
          <a:xfrm>
            <a:off x="556054" y="234779"/>
            <a:ext cx="1145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covid19</a:t>
            </a:r>
            <a:r>
              <a:rPr lang="zh-CN" altLang="en-US" dirty="0"/>
              <a:t>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14ACE04-430F-8065-63B9-92EA4B95C08E}"/>
              </a:ext>
            </a:extLst>
          </p:cNvPr>
          <p:cNvSpPr txBox="1"/>
          <p:nvPr/>
        </p:nvSpPr>
        <p:spPr>
          <a:xfrm>
            <a:off x="624016" y="852616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染病细胞区别（失败）</a:t>
            </a:r>
            <a:endParaRPr lang="en-US" altLang="zh-CN" dirty="0"/>
          </a:p>
          <a:p>
            <a:r>
              <a:rPr lang="zh-CN" altLang="en-US" dirty="0"/>
              <a:t>模型仅能分辨细胞类型，对时间和感染状态无感知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A022B69-1CFF-2C5B-D8EB-C84B04997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65" y="1859844"/>
            <a:ext cx="3824281" cy="313831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B7F9859-C7B9-4957-B5EE-5DB289D91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440" y="3559642"/>
            <a:ext cx="4110902" cy="303922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287F2D9-57D2-C6F9-F8CC-703E2C195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458" y="419445"/>
            <a:ext cx="4749224" cy="314019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64FF459-490A-3944-2069-4DD322A512C5}"/>
              </a:ext>
            </a:extLst>
          </p:cNvPr>
          <p:cNvSpPr txBox="1"/>
          <p:nvPr/>
        </p:nvSpPr>
        <p:spPr>
          <a:xfrm>
            <a:off x="10618682" y="42692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时间节点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760FBA6-2AB3-A200-BDF8-515DC1902A80}"/>
              </a:ext>
            </a:extLst>
          </p:cNvPr>
          <p:cNvSpPr txBox="1"/>
          <p:nvPr/>
        </p:nvSpPr>
        <p:spPr>
          <a:xfrm>
            <a:off x="10618682" y="22194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感染状态</a:t>
            </a:r>
          </a:p>
        </p:txBody>
      </p:sp>
    </p:spTree>
    <p:extLst>
      <p:ext uri="{BB962C8B-B14F-4D97-AF65-F5344CB8AC3E}">
        <p14:creationId xmlns:p14="http://schemas.microsoft.com/office/powerpoint/2010/main" val="2290414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C5C8-6CBD-BD25-5F29-1B62C00BE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A112CF3-9ACC-6733-F16A-25146B4B326A}"/>
              </a:ext>
            </a:extLst>
          </p:cNvPr>
          <p:cNvSpPr txBox="1"/>
          <p:nvPr/>
        </p:nvSpPr>
        <p:spPr>
          <a:xfrm>
            <a:off x="556054" y="234779"/>
            <a:ext cx="1145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covid19</a:t>
            </a:r>
            <a:r>
              <a:rPr lang="zh-CN" altLang="en-US" dirty="0"/>
              <a:t>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9BD60D-2A2F-EBE9-B475-B0164F9671BB}"/>
              </a:ext>
            </a:extLst>
          </p:cNvPr>
          <p:cNvSpPr txBox="1"/>
          <p:nvPr/>
        </p:nvSpPr>
        <p:spPr>
          <a:xfrm>
            <a:off x="624016" y="852616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伪时间序列（失败）</a:t>
            </a:r>
            <a:endParaRPr lang="en-US" altLang="zh-CN" dirty="0"/>
          </a:p>
          <a:p>
            <a:r>
              <a:rPr lang="zh-CN" altLang="en-US" dirty="0"/>
              <a:t>预测时间序列非线性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2A748B-9E13-0ECB-F81E-BC2699C86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92" y="1596645"/>
            <a:ext cx="2736575" cy="271470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81428A-C267-D5A6-F3B2-B24399969396}"/>
              </a:ext>
            </a:extLst>
          </p:cNvPr>
          <p:cNvSpPr txBox="1"/>
          <p:nvPr/>
        </p:nvSpPr>
        <p:spPr>
          <a:xfrm>
            <a:off x="1858969" y="440905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非线性，聚成团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72E4F2E-12EA-EDAC-0DB4-2F93F745D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885" y="1596646"/>
            <a:ext cx="2692889" cy="271470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1A3F120-A686-1F7C-460E-A4685F0B0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909" y="1596645"/>
            <a:ext cx="4406005" cy="276173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F2E1CBB-E75F-AEDD-D752-18F2176D6356}"/>
              </a:ext>
            </a:extLst>
          </p:cNvPr>
          <p:cNvSpPr txBox="1"/>
          <p:nvPr/>
        </p:nvSpPr>
        <p:spPr>
          <a:xfrm>
            <a:off x="8301706" y="483661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失败，非单调递增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6D35E7-5623-1B5B-8F6B-0EBC27215662}"/>
              </a:ext>
            </a:extLst>
          </p:cNvPr>
          <p:cNvSpPr txBox="1"/>
          <p:nvPr/>
        </p:nvSpPr>
        <p:spPr>
          <a:xfrm>
            <a:off x="7724309" y="435838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预测时间节点与真实时间节点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3484AB0-8380-99A6-191A-23783E511F39}"/>
              </a:ext>
            </a:extLst>
          </p:cNvPr>
          <p:cNvSpPr txBox="1"/>
          <p:nvPr/>
        </p:nvSpPr>
        <p:spPr>
          <a:xfrm>
            <a:off x="624016" y="5710631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非专属时间模型，性能一般都不好</a:t>
            </a:r>
          </a:p>
        </p:txBody>
      </p:sp>
    </p:spTree>
    <p:extLst>
      <p:ext uri="{BB962C8B-B14F-4D97-AF65-F5344CB8AC3E}">
        <p14:creationId xmlns:p14="http://schemas.microsoft.com/office/powerpoint/2010/main" val="664993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3E147-F665-FEDD-8539-A3E92CF71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A91738-0D79-84C5-B79B-D725A990F2DF}"/>
              </a:ext>
            </a:extLst>
          </p:cNvPr>
          <p:cNvSpPr txBox="1"/>
          <p:nvPr/>
        </p:nvSpPr>
        <p:spPr>
          <a:xfrm>
            <a:off x="556054" y="234779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other</a:t>
            </a:r>
            <a:r>
              <a:rPr lang="zh-CN" altLang="en-US" dirty="0"/>
              <a:t>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E630E11-B058-8001-90B6-54C754C1B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54" y="1275495"/>
            <a:ext cx="7716795" cy="212877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9061671-6E2C-1A2D-786E-06994E3CDBDF}"/>
              </a:ext>
            </a:extLst>
          </p:cNvPr>
          <p:cNvSpPr txBox="1"/>
          <p:nvPr/>
        </p:nvSpPr>
        <p:spPr>
          <a:xfrm>
            <a:off x="556054" y="906163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细胞真实类型与预测类型混淆矩阵（失败）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D6D2F9C-87B2-2B96-364B-D2EDEB32C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11" y="3404266"/>
            <a:ext cx="4459076" cy="333634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012E2D2-6AF2-BE99-951B-E12636761028}"/>
              </a:ext>
            </a:extLst>
          </p:cNvPr>
          <p:cNvSpPr txBox="1"/>
          <p:nvPr/>
        </p:nvSpPr>
        <p:spPr>
          <a:xfrm>
            <a:off x="5126536" y="4111137"/>
            <a:ext cx="687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模型只能区分不同细胞类型之间的区别不能预测出准确的细胞类型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999229A-D89C-B95E-24B4-CE78130D2CA9}"/>
              </a:ext>
            </a:extLst>
          </p:cNvPr>
          <p:cNvSpPr txBox="1"/>
          <p:nvPr/>
        </p:nvSpPr>
        <p:spPr>
          <a:xfrm>
            <a:off x="5126536" y="4851816"/>
            <a:ext cx="4419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Scgpt</a:t>
            </a:r>
            <a:r>
              <a:rPr lang="zh-CN" altLang="en-US" dirty="0"/>
              <a:t>有专门的细胞预测</a:t>
            </a:r>
            <a:r>
              <a:rPr lang="en-US" altLang="zh-CN" dirty="0"/>
              <a:t>decoder</a:t>
            </a:r>
          </a:p>
          <a:p>
            <a:r>
              <a:rPr lang="zh-CN" altLang="en-US" dirty="0"/>
              <a:t>我的细胞预测分类器是辅助重构</a:t>
            </a:r>
            <a:r>
              <a:rPr lang="en-US" altLang="zh-CN" dirty="0"/>
              <a:t>decoder</a:t>
            </a:r>
            <a:r>
              <a:rPr lang="zh-CN" altLang="en-US" dirty="0"/>
              <a:t>的</a:t>
            </a:r>
          </a:p>
        </p:txBody>
      </p:sp>
    </p:spTree>
    <p:extLst>
      <p:ext uri="{BB962C8B-B14F-4D97-AF65-F5344CB8AC3E}">
        <p14:creationId xmlns:p14="http://schemas.microsoft.com/office/powerpoint/2010/main" val="395718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13D69-FE4C-2387-4409-D53D9A1CD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123204-B43B-B46C-5ECD-EE5D7725C3E5}"/>
              </a:ext>
            </a:extLst>
          </p:cNvPr>
          <p:cNvSpPr txBox="1"/>
          <p:nvPr/>
        </p:nvSpPr>
        <p:spPr>
          <a:xfrm>
            <a:off x="556054" y="234779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other</a:t>
            </a:r>
            <a:r>
              <a:rPr lang="zh-CN" altLang="en-US" dirty="0"/>
              <a:t>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2DCCE7-48B6-2FB1-BBBB-FC119F98C1EC}"/>
              </a:ext>
            </a:extLst>
          </p:cNvPr>
          <p:cNvSpPr txBox="1"/>
          <p:nvPr/>
        </p:nvSpPr>
        <p:spPr>
          <a:xfrm>
            <a:off x="556054" y="906163"/>
            <a:ext cx="853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细胞</a:t>
            </a:r>
            <a:r>
              <a:rPr lang="en-US" altLang="zh-CN" dirty="0" err="1"/>
              <a:t>embeding</a:t>
            </a:r>
            <a:r>
              <a:rPr lang="zh-CN" altLang="en-US" dirty="0"/>
              <a:t>热力图（成功，不同细胞类型</a:t>
            </a:r>
            <a:r>
              <a:rPr lang="en-US" altLang="zh-CN" dirty="0" err="1"/>
              <a:t>embeding</a:t>
            </a:r>
            <a:r>
              <a:rPr lang="zh-CN" altLang="en-US" dirty="0"/>
              <a:t>差别大，同细胞类型差别小）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F23D91-C11C-B84D-D32B-B120C0B32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70" y="1275495"/>
            <a:ext cx="4219834" cy="41328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F16B5EF-1572-7EA2-898F-ECEFDC88C41B}"/>
              </a:ext>
            </a:extLst>
          </p:cNvPr>
          <p:cNvSpPr txBox="1"/>
          <p:nvPr/>
        </p:nvSpPr>
        <p:spPr>
          <a:xfrm>
            <a:off x="5323031" y="6233842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bmmc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3F72E70-A483-5945-009F-AFD588C57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260" y="1501900"/>
            <a:ext cx="5129461" cy="421798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9D23A9F-6B24-1144-AF26-0E8E7E67FBD7}"/>
              </a:ext>
            </a:extLst>
          </p:cNvPr>
          <p:cNvSpPr txBox="1"/>
          <p:nvPr/>
        </p:nvSpPr>
        <p:spPr>
          <a:xfrm>
            <a:off x="1749891" y="5582505"/>
            <a:ext cx="228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细胞</a:t>
            </a:r>
            <a:r>
              <a:rPr lang="en-US" altLang="zh-CN" dirty="0" err="1"/>
              <a:t>embeding</a:t>
            </a:r>
            <a:r>
              <a:rPr lang="zh-CN" altLang="en-US" dirty="0"/>
              <a:t>原始值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6F58FF-EEB5-89E5-8256-A2254CF9B60E}"/>
              </a:ext>
            </a:extLst>
          </p:cNvPr>
          <p:cNvSpPr txBox="1"/>
          <p:nvPr/>
        </p:nvSpPr>
        <p:spPr>
          <a:xfrm>
            <a:off x="7334091" y="5719887"/>
            <a:ext cx="228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细胞</a:t>
            </a:r>
            <a:r>
              <a:rPr lang="en-US" altLang="zh-CN" dirty="0" err="1"/>
              <a:t>embeding</a:t>
            </a:r>
            <a:r>
              <a:rPr lang="zh-CN" altLang="en-US" dirty="0"/>
              <a:t>相似度</a:t>
            </a:r>
          </a:p>
        </p:txBody>
      </p:sp>
    </p:spTree>
    <p:extLst>
      <p:ext uri="{BB962C8B-B14F-4D97-AF65-F5344CB8AC3E}">
        <p14:creationId xmlns:p14="http://schemas.microsoft.com/office/powerpoint/2010/main" val="3848431061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280</Words>
  <Application>Microsoft Office PowerPoint</Application>
  <PresentationFormat>宽屏</PresentationFormat>
  <Paragraphs>46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Arial</vt:lpstr>
      <vt:lpstr>Calibri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田任冲</dc:creator>
  <cp:lastModifiedBy>任冲 田</cp:lastModifiedBy>
  <cp:revision>102</cp:revision>
  <dcterms:created xsi:type="dcterms:W3CDTF">2023-08-09T12:44:00Z</dcterms:created>
  <dcterms:modified xsi:type="dcterms:W3CDTF">2026-04-03T08:25:04Z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